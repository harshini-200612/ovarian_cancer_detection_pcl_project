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57200"/>
            <a:ext cx="8823960" cy="36576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 ·  MEDICAL AI  ·  GENOMICS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Ovarian Cancer Detection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Multimodal Transformer-Based Deep Learning Framework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2395728"/>
            <a:ext cx="777240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42032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2E86AB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54203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Transformer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2542032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2E86AB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254203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BERT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49240" y="2542032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2E86AB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254203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Fusion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090672"/>
            <a:ext cx="7772400" cy="896112"/>
          </a:xfrm>
          <a:prstGeom prst="rect">
            <a:avLst/>
          </a:prstGeom>
          <a:solidFill>
            <a:srgbClr val="112233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145536"/>
            <a:ext cx="746150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multimodal deep learning framework combining CT imaging (DICOM) and RNA-seq genomic expression data for enhanced ovarian cancer classification using Swin Transformer image encoding and BERT-based gene expression modelling.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16052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Project  |  School of Computer Science &amp; Engineering  |  JAIN (Deemed-to-be University)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44348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NAMAN · HARISH KUMAR · NIKHILESH REDDY IPPAGUNTA · VIDUSHI DWIVEDI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" y="46634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Ms. Simran Bathija  |  Futurense Technologies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303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0" y="914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Ovarian Cancer Detection | Multimodal Transformer-Based DL Framework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20040" y="658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0040" y="1207008"/>
            <a:ext cx="20116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07008"/>
            <a:ext cx="20116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3258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320040" y="21214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Deadly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in Women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26334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~75% cases diagnosed late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287121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survival &lt;30%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Stage IV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14600" y="1207008"/>
            <a:ext cx="31546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14600" y="1207008"/>
            <a:ext cx="201168" cy="10789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88920" y="12984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Late-Stage Diagnosis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88920" y="1591056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Ovarian cancer is asymptomatic until advanced stages, drastically reducing treatment success rates.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870448" y="1207008"/>
            <a:ext cx="31546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70448" y="1207008"/>
            <a:ext cx="201168" cy="107899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68" y="12984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Histopathology Limitations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44768" y="1591056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examination is time-consuming, subjective, and prone to inter-observer variability.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14600" y="2395728"/>
            <a:ext cx="31546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14600" y="2395728"/>
            <a:ext cx="201168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88920" y="24871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Inadequate Biomarkers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88920" y="2779776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Biomarker-based screening lacks sufficient sensitivity and specificity for early detection.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870448" y="2395728"/>
            <a:ext cx="31546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870448" y="2395728"/>
            <a:ext cx="201168" cy="107899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24871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Complexity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44768" y="2779776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Molecular-level gene expression changes are difficult to interpret without AI assistance.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4462272"/>
            <a:ext cx="850392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46227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clinical approaches rely solely on imaging or biomarkers — neither captures the full biological picture needed for early detection.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303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0" y="914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Ovarian Cancer Detection | Multimodal Transformer-Based DL Framework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20040" y="658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0789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three-module multimodal deep learning framework: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444752"/>
            <a:ext cx="8503920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444752"/>
            <a:ext cx="868680" cy="9692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444752"/>
            <a:ext cx="8686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98448" y="153619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Transformer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98448" y="182880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Feature Extraction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298448" y="201168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hierarchical features from CT DICOM slices using shifted-window self-attention. Captures both local texture and global structural patterns at multiple scales.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478024"/>
            <a:ext cx="8503920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478024"/>
            <a:ext cx="868680" cy="96926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78024"/>
            <a:ext cx="8686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98448" y="256946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BERT Encoder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98448" y="286207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Expression Modelling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298448" y="3044952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RNA-seq TPM expression vectors as token sequences. A 4-layer BERT with 8 attention heads captures long-range gene co-expression dependencies via CLS token.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511296"/>
            <a:ext cx="8503920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511296"/>
            <a:ext cx="868680" cy="9692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511296"/>
            <a:ext cx="8686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98448" y="360273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Attention Fusion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98448" y="389534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Multi-Modal Integration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298448" y="4078224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weights image and genomic embeddings per sample using learned gates. Emphasizes the most informative modality automatically — outperforming simple concatenation.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4544568"/>
            <a:ext cx="8503920" cy="219456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54456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inputs  →  Complementary feature extraction  →  Adaptive gated fusion  →  Classification output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303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0" y="914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PREPROCESSING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Ovarian Cancer Detection | Multimodal Transformer-Based DL Framework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20040" y="658368"/>
            <a:ext cx="8503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Preprocessing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0040" y="1170432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170432"/>
            <a:ext cx="402336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170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DICOM Imaging Dataset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600200"/>
            <a:ext cx="40233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6367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31720" y="16367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× 224 pixels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19842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Center / Width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331720" y="19842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HU / 400 HU (soft-tissue)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295144"/>
            <a:ext cx="40233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331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Pelvic Filter Threshold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331720" y="2331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 ratio &gt; 0.15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2679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Slices / Patient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331720" y="2679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(uniform step sampling)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990088"/>
            <a:ext cx="40233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0266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331720" y="30266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mean/std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33741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331720" y="33741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Flip, Rotate ±15°, Brightness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685032"/>
            <a:ext cx="40233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7216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331720" y="37216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 axial, ≥ 20 pelvic slices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1480" y="4069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331720" y="4069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undersampling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26280" y="1170432"/>
            <a:ext cx="42976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26280" y="1170432"/>
            <a:ext cx="42976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11704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RNA-seq Genomic Dataset (TCGA)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26280" y="1600200"/>
            <a:ext cx="429768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16367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629400" y="16367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1,181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617720" y="19842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Samples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629400" y="19842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737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26280" y="2295144"/>
            <a:ext cx="429768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233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Samples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629400" y="2331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444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617720" y="26791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629400" y="267919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~60,000 genes (TPM)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26280" y="2990088"/>
            <a:ext cx="429768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17720" y="30266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629400" y="30266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500 by variance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617720" y="33741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629400" y="337413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 + StandardScaler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26280" y="3685032"/>
            <a:ext cx="429768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17720" y="3721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629400" y="37216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70% | Val 15% | Test 15%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617720" y="4069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Metric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629400" y="4069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 (Transcripts Per Million)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320040" y="473659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Healthy: 11,562 slices  |  Diseased: 9,029 slices  (verified via count_dicoms())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303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0" y="914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SWIN TRANSFORMER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Ovarian Cancer Detection | Multimodal Transformer-Based DL Framework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20040" y="658368"/>
            <a:ext cx="8503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Transformer — Image Feature Extraction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20040" y="1170432"/>
            <a:ext cx="155448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170432"/>
            <a:ext cx="155448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1704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1554480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1993392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4×4 non-overlapping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from 224×224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74520" y="1719072"/>
            <a:ext cx="155448" cy="365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29968" y="1170432"/>
            <a:ext cx="155448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29968" y="1170432"/>
            <a:ext cx="155448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29968" y="11704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75688" y="1554480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075688" y="1993392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patch projected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feature vector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84448" y="1719072"/>
            <a:ext cx="155448" cy="365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39896" y="1170432"/>
            <a:ext cx="155448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39896" y="1170432"/>
            <a:ext cx="155448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9896" y="11704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85616" y="1554480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W-MSA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SW-MSA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785616" y="1993392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Shifted-window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layers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294376" y="1719072"/>
            <a:ext cx="155448" cy="365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49824" y="1170432"/>
            <a:ext cx="155448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49824" y="1170432"/>
            <a:ext cx="155448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9824" y="11704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95544" y="1554480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95544" y="1993392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downsampling,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increase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04304" y="1719072"/>
            <a:ext cx="155448" cy="365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59752" y="1170432"/>
            <a:ext cx="155448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59752" y="1170432"/>
            <a:ext cx="155448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59752" y="11704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05472" y="1554480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205472" y="1993392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f_img ∈ ℝ⁷⁶⁸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 pool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0040" y="279806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Baseline Models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072384"/>
          <a:ext cx="8503920" cy="1417320"/>
        </p:xfrm>
        <a:graphic>
          <a:graphicData uri="http://schemas.openxmlformats.org/drawingml/2006/table">
            <a:tbl>
              <a:tblPr/>
              <a:tblGrid>
                <a:gridCol w="2834640"/>
                <a:gridCol w="1417320"/>
                <a:gridCol w="1417320"/>
                <a:gridCol w="1417320"/>
                <a:gridCol w="141732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ViT-Base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Swin-Tiny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303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0" y="914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GENOMIC BERT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Ovarian Cancer Detection | Multimodal Transformer-Based DL Framework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20040" y="658368"/>
            <a:ext cx="8503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BERT — Gene Expression Encoder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20040" y="1170432"/>
            <a:ext cx="41148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170432"/>
            <a:ext cx="41148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1704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Details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600200"/>
            <a:ext cx="411480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6367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Layers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86000" y="16367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Transformer Encoder Layers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19842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Heads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86000" y="19842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Multi-Head Self-Attention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295144"/>
            <a:ext cx="411480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Dimension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0" y="233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26791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 Intermediate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86000" y="26791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(2× hidden size)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990088"/>
            <a:ext cx="411480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026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Embedding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286000" y="30266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Linear(1 → 256) per gene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33741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286000" y="33741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(n_genes + 1)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685032"/>
            <a:ext cx="411480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7216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286000" y="3721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 (combat overfitting)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1480" y="4069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286000" y="4069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 token → f_gen ∈ ℝ²⁵⁶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17720" y="1170432"/>
            <a:ext cx="420624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17720" y="1170432"/>
            <a:ext cx="420624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11704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Pipeline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1581912"/>
            <a:ext cx="228600" cy="2286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158191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983480" y="15819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top 500 variable genes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09160" y="1874520"/>
            <a:ext cx="228600" cy="2286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18745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983480" y="18745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log(1+x) transformation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2167128"/>
            <a:ext cx="228600" cy="2286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216712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983480" y="21671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normalization (StandardScaler)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09160" y="2459736"/>
            <a:ext cx="228600" cy="2286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245973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983480" y="24597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embedding + [CLS] prepend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09160" y="2752344"/>
            <a:ext cx="228600" cy="2286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275234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983480" y="27523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BERT encoder → f_gen ∈ ℝ²⁵⁶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17720" y="3017520"/>
            <a:ext cx="4206240" cy="1673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617720" y="3017520"/>
            <a:ext cx="420624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30175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Transformer for Genomics?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709160" y="3401568"/>
            <a:ext cx="4023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expression profiles are treated as 500-token sequences where each gene is one token. Self-attention captures long-range co-expression interactions between genes — analogous to word interactions in NLP. The [CLS] token embedding summarizes the entire patient's molecular profile in a single 256-dimensional vector used for classification and fusion.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303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0" y="914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ATTENTION FUSION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Ovarian Cancer Detection | Multimodal Transformer-Based DL Framework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20040" y="658368"/>
            <a:ext cx="8503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Attention-Based Multimodal Fusion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20040" y="1207008"/>
            <a:ext cx="1828800" cy="6583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0700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f_img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(ℝ⁷⁶⁸)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103120"/>
            <a:ext cx="18288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10312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f_gen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(ℝ²⁵⁶)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68880" y="1536192"/>
            <a:ext cx="192024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153619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Projection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F'_img, F'_gen ∈ ℝ²⁵⁶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1536192"/>
            <a:ext cx="173736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53619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Weights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α_img, α_gen via σ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20840" y="1536192"/>
            <a:ext cx="2103120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1536192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Vector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F_fusion ∈ ℝ²⁵⁶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148840" y="1865376"/>
            <a:ext cx="32004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0" y="1865376"/>
            <a:ext cx="32004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1865376"/>
            <a:ext cx="27432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578608"/>
            <a:ext cx="8503920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724912"/>
            <a:ext cx="8503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724912"/>
            <a:ext cx="850392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72491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Head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090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LayerNorm(256)  →  Linear(256→128)  →  GELU  →  Dropout(0.3)  →  Linear(128→2)  →  Softmax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493008"/>
            <a:ext cx="8503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493008"/>
            <a:ext cx="201168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54787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" y="3803904"/>
            <a:ext cx="8138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per-sample weighting: for early-stage cancer where morphological changes are subtle but molecular alterations are detectable, the model automatically up-weights genomic features. For advanced-stage tumors with visible macroscopic changes, imaging features receive higher weight. This dynamic gating is learned entirely from training data — no manual tuning required.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303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0" y="914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Ovarian Cancer Detection | Multimodal Transformer-Based DL Framework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20040" y="658368"/>
            <a:ext cx="8503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Training Pipeline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20040" y="1207008"/>
            <a:ext cx="40690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07008"/>
            <a:ext cx="475488" cy="107899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207008"/>
            <a:ext cx="47548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128016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1591056"/>
            <a:ext cx="34564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archives extracted from Google Drive. Healthy &amp; diseased DICOM sets unpacked to Colab local storage.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350008"/>
            <a:ext cx="40690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50008"/>
            <a:ext cx="475488" cy="107899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50008"/>
            <a:ext cx="47548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242316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 Series Selection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2734056"/>
            <a:ext cx="34564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find_axial_series() filters scouts/localisers and non-axial series; selects highest slice-count series per patient.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493008"/>
            <a:ext cx="40690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493008"/>
            <a:ext cx="475488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493008"/>
            <a:ext cx="47548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" y="356616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Pelvic Slice Filtering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3877056"/>
            <a:ext cx="34564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is_pelvic_slice() retains slices where tissue ratio (HU −200 to +300) exceeds 0.15. Patients with &lt;20 pelvic slices excluded.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207008"/>
            <a:ext cx="40690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207008"/>
            <a:ext cx="475488" cy="10789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207008"/>
            <a:ext cx="47548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12080" y="128016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 Windowing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0" y="1591056"/>
            <a:ext cx="34564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apply_window() clips HU to soft-tissue range [−160, +240] (WC=40, WW=400), normalises to [0,1], replicates to 3 channels.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2350008"/>
            <a:ext cx="40690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350008"/>
            <a:ext cx="475488" cy="10789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2350008"/>
            <a:ext cx="47548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212080" y="242316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Preprocessing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2734056"/>
            <a:ext cx="34564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 transform → top-500 variance genes selected → StandardScaler fit on train only → 80/10/10 stratified split.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3493008"/>
            <a:ext cx="40690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493008"/>
            <a:ext cx="475488" cy="107899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3493008"/>
            <a:ext cx="47548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212080" y="356616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Checkpointing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3877056"/>
            <a:ext cx="34564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with differential LR (backbone 10× lower). CosineAnnealingLR. Early stopping patience=8. Best val_loss checkpoint saved.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" y="4572000"/>
            <a:ext cx="8503920" cy="2011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57200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Google Colab T4 GPU  |  Framework: PyTorch + timm + HuggingFace Transformers  |  Healthy slices: 11,562  |  Diseased: 9,029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303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0" y="914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SWIN CT CLASSIFIER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Ovarian Cancer Detection | Multimodal Transformer-Based DL Framework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20040" y="658368"/>
            <a:ext cx="8503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Swin Transformer CT Classifier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20040" y="1170432"/>
            <a:ext cx="1828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170432"/>
            <a:ext cx="1828800" cy="731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2801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0040" y="1883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31720" y="1170432"/>
            <a:ext cx="1828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31720" y="1170432"/>
            <a:ext cx="18288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12801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331720" y="1883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43400" y="1170432"/>
            <a:ext cx="1828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43400" y="1170432"/>
            <a:ext cx="182880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12801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343400" y="1883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55080" y="1170432"/>
            <a:ext cx="1828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1170432"/>
            <a:ext cx="182880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2801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355080" y="1883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" y="23774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(Test Set)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670048"/>
          <a:ext cx="4023360" cy="1463040"/>
        </p:xfrm>
        <a:graphic>
          <a:graphicData uri="http://schemas.openxmlformats.org/drawingml/2006/table">
            <a:tbl>
              <a:tblPr/>
              <a:tblGrid>
                <a:gridCol w="1417320"/>
                <a:gridCol w="1298448"/>
                <a:gridCol w="1307592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Healthy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Tumor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Healthy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Tumor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 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4617720" y="2377440"/>
            <a:ext cx="420624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617720" y="2377440"/>
            <a:ext cx="420624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09160" y="23774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Metric Interpretation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709160" y="277977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126480" y="277977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correctness across both classes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709160" y="309067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126480" y="30906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predicted tumors, how many are real?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709160" y="340156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(Sensitivity): 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126480" y="34015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real tumors, how many are caught?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709160" y="371246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F1-Score: 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126480" y="371246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of Precision and Recall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709160" y="40233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AUC-ROC: 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126480" y="40233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 at all thresholds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20040" y="4224528"/>
            <a:ext cx="8503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320040" y="4224528"/>
            <a:ext cx="201168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4360" y="4261104"/>
            <a:ext cx="8138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converged smoothly — validation loss closely tracks training loss (minimal overfitting). CosineAnnealingLR scheduler produces characteristic oscillations allowing escape from local minima. Best checkpoint saved at minimum validation loss via early stopping (patience = 8).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303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0" y="914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FUSION MODEL &amp; ABLATION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Ovarian Cancer Detection | Multimodal Transformer-Based DL Framework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20040" y="658368"/>
            <a:ext cx="8503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Genomic BERT &amp; Multimodal Fusion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20040" y="11704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BERT (Standalone)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463040"/>
            <a:ext cx="713232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463040"/>
            <a:ext cx="713232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517904"/>
            <a:ext cx="713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85.31%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1975104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124712" y="1463040"/>
            <a:ext cx="713232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24712" y="1463040"/>
            <a:ext cx="713232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1517904"/>
            <a:ext cx="713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82.31%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4712" y="1975104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929384" y="1463040"/>
            <a:ext cx="713232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929384" y="1463040"/>
            <a:ext cx="713232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29384" y="1517904"/>
            <a:ext cx="713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97.27%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29384" y="1975104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★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734056" y="1463040"/>
            <a:ext cx="713232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34056" y="1463040"/>
            <a:ext cx="713232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34056" y="1517904"/>
            <a:ext cx="713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89.17%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34056" y="1975104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538728" y="1463040"/>
            <a:ext cx="713232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538728" y="1463040"/>
            <a:ext cx="713232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38728" y="1517904"/>
            <a:ext cx="713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92.66%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38728" y="1975104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20040" y="2377440"/>
            <a:ext cx="402336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43230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false negatives → 97.27% Recall — critical for clinical cancer screening!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0" y="1170432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 — Fusion Strategy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463040"/>
          <a:ext cx="4251960" cy="1371600"/>
        </p:xfrm>
        <a:graphic>
          <a:graphicData uri="http://schemas.openxmlformats.org/drawingml/2006/table">
            <a:tbl>
              <a:tblPr/>
              <a:tblGrid>
                <a:gridCol w="2103120"/>
                <a:gridCol w="731520"/>
                <a:gridCol w="713232"/>
                <a:gridCol w="704088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Only (Swin)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Genomic Only (BERT)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 (Concat)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(Attn Fusion)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" name="Shape 31"/>
          <p:cNvSpPr/>
          <p:nvPr/>
        </p:nvSpPr>
        <p:spPr>
          <a:xfrm>
            <a:off x="320040" y="2816352"/>
            <a:ext cx="85039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320040" y="2816352"/>
            <a:ext cx="201168" cy="4297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4360" y="285292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&gt; single-modality: Attention fusion boosts accuracy by +2.6% over image-only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20040" y="3300984"/>
            <a:ext cx="85039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320040" y="3300984"/>
            <a:ext cx="201168" cy="4297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94360" y="333756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fusion &gt; concatenation: +1.4% accuracy, +1.7% F1, +1.2% AUC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320040" y="3785616"/>
            <a:ext cx="85039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320040" y="3785616"/>
            <a:ext cx="201168" cy="4297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4360" y="382219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data contributes most to recall — critical for early-stage cancer detection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320040" y="4270248"/>
            <a:ext cx="85039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320040" y="4270248"/>
            <a:ext cx="201168" cy="4297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94360" y="4306824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provides stronger discriminative power for advanced-stage tumors with visible changes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57200"/>
            <a:ext cx="8823960" cy="36576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Future Scope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4023360" cy="1298448"/>
          </a:xfrm>
          <a:prstGeom prst="rect">
            <a:avLst/>
          </a:prstGeom>
          <a:solidFill>
            <a:srgbClr val="112233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08760"/>
            <a:ext cx="402336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184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Framework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94767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Swin Transformer (CT imaging) + Genomic BERT (RNA-seq TPM) for comprehensive ovarian cancer detection using gated attention fusion.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508760"/>
            <a:ext cx="4023360" cy="1298448"/>
          </a:xfrm>
          <a:prstGeom prst="rect">
            <a:avLst/>
          </a:prstGeom>
          <a:solidFill>
            <a:srgbClr val="112233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508760"/>
            <a:ext cx="402336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184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Performance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94767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fusion achieves 89.6% accuracy, 91.2% F1, and 96.3% AUC — outperforming all single-modality and CNN-based baseline models.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926080"/>
            <a:ext cx="4023360" cy="1298448"/>
          </a:xfrm>
          <a:prstGeom prst="rect">
            <a:avLst/>
          </a:prstGeom>
          <a:solidFill>
            <a:srgbClr val="112233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926080"/>
            <a:ext cx="402336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358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Relevance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36499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97.27% recall on the Genomic BERT branch minimizes false negatives — critical in medical screening where missed cancers have severe consequences.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926080"/>
            <a:ext cx="4023360" cy="1298448"/>
          </a:xfrm>
          <a:prstGeom prst="rect">
            <a:avLst/>
          </a:prstGeom>
          <a:solidFill>
            <a:srgbClr val="112233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2926080"/>
            <a:ext cx="402336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0358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Potential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36499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supports extension to other cancer types and additional data modalities (proteomics, methylation), enabling next-generation precision medicine.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4462272"/>
            <a:ext cx="8321040" cy="36576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535424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multimodal learning bridges imaging &amp; genomics — enabling earlier, more accurate ovarian cancer diagnosis.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Ovarian Cancer Detection — Multimodal DL Framework</dc:title>
  <dc:subject>PptxGenJS Presentation</dc:subject>
  <dc:creator>Academic Research Project</dc:creator>
  <cp:lastModifiedBy>Academic Research Project</cp:lastModifiedBy>
  <cp:revision>1</cp:revision>
  <dcterms:created xsi:type="dcterms:W3CDTF">2026-04-20T11:49:46Z</dcterms:created>
  <dcterms:modified xsi:type="dcterms:W3CDTF">2026-04-20T11:49:46Z</dcterms:modified>
</cp:coreProperties>
</file>